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7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11" autoAdjust="0"/>
    <p:restoredTop sz="94660"/>
  </p:normalViewPr>
  <p:slideViewPr>
    <p:cSldViewPr snapToGrid="0">
      <p:cViewPr varScale="1">
        <p:scale>
          <a:sx n="74" d="100"/>
          <a:sy n="74" d="100"/>
        </p:scale>
        <p:origin x="5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3CB2E-E051-454F-B319-DFAE668C8CE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9281-7405-47E6-8223-4635F2E2C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282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3CB2E-E051-454F-B319-DFAE668C8CE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9281-7405-47E6-8223-4635F2E2C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279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3CB2E-E051-454F-B319-DFAE668C8CE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9281-7405-47E6-8223-4635F2E2C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658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3CB2E-E051-454F-B319-DFAE668C8CE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9281-7405-47E6-8223-4635F2E2C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13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3CB2E-E051-454F-B319-DFAE668C8CE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9281-7405-47E6-8223-4635F2E2C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47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3CB2E-E051-454F-B319-DFAE668C8CE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9281-7405-47E6-8223-4635F2E2C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672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3CB2E-E051-454F-B319-DFAE668C8CE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9281-7405-47E6-8223-4635F2E2C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54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3CB2E-E051-454F-B319-DFAE668C8CE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9281-7405-47E6-8223-4635F2E2C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876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3CB2E-E051-454F-B319-DFAE668C8CE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9281-7405-47E6-8223-4635F2E2C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4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3CB2E-E051-454F-B319-DFAE668C8CE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9281-7405-47E6-8223-4635F2E2C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372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3CB2E-E051-454F-B319-DFAE668C8CE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09281-7405-47E6-8223-4635F2E2C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173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83CB2E-E051-454F-B319-DFAE668C8CE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09281-7405-47E6-8223-4635F2E2C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000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1BDE9-8E14-658B-E509-F9716ED3D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A99A928-C097-AC10-1933-E17F42BAB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742245"/>
          </a:xfrm>
        </p:spPr>
        <p:txBody>
          <a:bodyPr>
            <a:normAutofit fontScale="90000"/>
          </a:bodyPr>
          <a:lstStyle/>
          <a:p>
            <a:br>
              <a:rPr lang="en-GB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7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7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OR, AN and XOR gate using animation</a:t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003A56-7764-997E-B208-3CAD2B4A53B2}"/>
              </a:ext>
            </a:extLst>
          </p:cNvPr>
          <p:cNvSpPr/>
          <p:nvPr/>
        </p:nvSpPr>
        <p:spPr>
          <a:xfrm>
            <a:off x="160421" y="144379"/>
            <a:ext cx="11855116" cy="65451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85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B6C3B03-7513-F55F-86AE-17E0AB87B1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153616"/>
              </p:ext>
            </p:extLst>
          </p:nvPr>
        </p:nvGraphicFramePr>
        <p:xfrm>
          <a:off x="2005263" y="1809683"/>
          <a:ext cx="8197515" cy="3800787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714681">
                  <a:extLst>
                    <a:ext uri="{9D8B030D-6E8A-4147-A177-3AD203B41FA5}">
                      <a16:colId xmlns:a16="http://schemas.microsoft.com/office/drawing/2014/main" val="415033179"/>
                    </a:ext>
                  </a:extLst>
                </a:gridCol>
                <a:gridCol w="2741417">
                  <a:extLst>
                    <a:ext uri="{9D8B030D-6E8A-4147-A177-3AD203B41FA5}">
                      <a16:colId xmlns:a16="http://schemas.microsoft.com/office/drawing/2014/main" val="4033085462"/>
                    </a:ext>
                  </a:extLst>
                </a:gridCol>
                <a:gridCol w="2741417">
                  <a:extLst>
                    <a:ext uri="{9D8B030D-6E8A-4147-A177-3AD203B41FA5}">
                      <a16:colId xmlns:a16="http://schemas.microsoft.com/office/drawing/2014/main" val="1800069687"/>
                    </a:ext>
                  </a:extLst>
                </a:gridCol>
              </a:tblGrid>
              <a:tr h="736782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A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 B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Y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6838695"/>
                  </a:ext>
                </a:extLst>
              </a:tr>
              <a:tr h="74701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04966"/>
                  </a:ext>
                </a:extLst>
              </a:tr>
              <a:tr h="74701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569995"/>
                  </a:ext>
                </a:extLst>
              </a:tr>
              <a:tr h="74701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892742"/>
                  </a:ext>
                </a:extLst>
              </a:tr>
              <a:tr h="74701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08436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E206163-44F5-BA67-3208-43A4124EB5BB}"/>
              </a:ext>
            </a:extLst>
          </p:cNvPr>
          <p:cNvSpPr txBox="1"/>
          <p:nvPr/>
        </p:nvSpPr>
        <p:spPr>
          <a:xfrm>
            <a:off x="3001209" y="716107"/>
            <a:ext cx="6189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6">
                    <a:lumMod val="75000"/>
                  </a:schemeClr>
                </a:solidFill>
                <a:latin typeface="Bahnschrift Condensed" panose="020B0502040204020203" pitchFamily="34" charset="0"/>
                <a:cs typeface="Times New Roman" panose="02020603050405020304" pitchFamily="18" charset="0"/>
              </a:rPr>
              <a:t>TRUTH TABLE OF OR GATE</a:t>
            </a:r>
          </a:p>
        </p:txBody>
      </p:sp>
    </p:spTree>
    <p:extLst>
      <p:ext uri="{BB962C8B-B14F-4D97-AF65-F5344CB8AC3E}">
        <p14:creationId xmlns:p14="http://schemas.microsoft.com/office/powerpoint/2010/main" val="315559904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FE51CF-E3E0-431A-5FC8-552603A8804D}"/>
              </a:ext>
            </a:extLst>
          </p:cNvPr>
          <p:cNvSpPr txBox="1"/>
          <p:nvPr/>
        </p:nvSpPr>
        <p:spPr>
          <a:xfrm>
            <a:off x="2085473" y="288758"/>
            <a:ext cx="74756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Bahnschrift Condensed" panose="020B0502040204020203" pitchFamily="34" charset="0"/>
              </a:rPr>
              <a:t>      WORKING OF OR GATE </a:t>
            </a:r>
          </a:p>
        </p:txBody>
      </p:sp>
      <p:pic>
        <p:nvPicPr>
          <p:cNvPr id="6150" name="Picture 6" descr="Logic Gates png images | PNGWing">
            <a:extLst>
              <a:ext uri="{FF2B5EF4-FFF2-40B4-BE49-F238E27FC236}">
                <a16:creationId xmlns:a16="http://schemas.microsoft.com/office/drawing/2014/main" id="{0D829CEE-564A-8614-8FFA-1005DC00E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58" b="89701" l="4457" r="97609">
                        <a14:foregroundMark x1="44891" y1="2990" x2="44891" y2="2990"/>
                        <a14:foregroundMark x1="4457" y1="68106" x2="4457" y2="68106"/>
                        <a14:foregroundMark x1="85652" y1="50166" x2="85652" y2="50166"/>
                        <a14:foregroundMark x1="97609" y1="50166" x2="97609" y2="50166"/>
                        <a14:foregroundMark x1="72935" y1="52492" x2="72935" y2="52492"/>
                        <a14:foregroundMark x1="58370" y1="7641" x2="58370" y2="76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144" y="2356244"/>
            <a:ext cx="6557712" cy="2145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67BF30C-B2BA-3150-3627-5366226D6484}"/>
              </a:ext>
            </a:extLst>
          </p:cNvPr>
          <p:cNvSpPr/>
          <p:nvPr/>
        </p:nvSpPr>
        <p:spPr>
          <a:xfrm>
            <a:off x="2239628" y="2614863"/>
            <a:ext cx="577516" cy="58477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BA7C9C7-B477-2A0E-7C38-FB4C4F9046AC}"/>
              </a:ext>
            </a:extLst>
          </p:cNvPr>
          <p:cNvSpPr/>
          <p:nvPr/>
        </p:nvSpPr>
        <p:spPr>
          <a:xfrm>
            <a:off x="9561094" y="3136612"/>
            <a:ext cx="577516" cy="58477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D2FF2C7-F0D3-9F3B-0233-17E20D4B3D74}"/>
              </a:ext>
            </a:extLst>
          </p:cNvPr>
          <p:cNvSpPr/>
          <p:nvPr/>
        </p:nvSpPr>
        <p:spPr>
          <a:xfrm>
            <a:off x="2239628" y="3504438"/>
            <a:ext cx="577516" cy="58477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E0D135-CF97-08E2-C0D6-517507913354}"/>
              </a:ext>
            </a:extLst>
          </p:cNvPr>
          <p:cNvSpPr txBox="1"/>
          <p:nvPr/>
        </p:nvSpPr>
        <p:spPr>
          <a:xfrm>
            <a:off x="1568993" y="2613392"/>
            <a:ext cx="577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598901-5F50-05D7-277F-550701096C2C}"/>
              </a:ext>
            </a:extLst>
          </p:cNvPr>
          <p:cNvSpPr txBox="1"/>
          <p:nvPr/>
        </p:nvSpPr>
        <p:spPr>
          <a:xfrm>
            <a:off x="1568993" y="3565993"/>
            <a:ext cx="577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A1AE63-19DD-839C-367B-209328F187F2}"/>
              </a:ext>
            </a:extLst>
          </p:cNvPr>
          <p:cNvSpPr txBox="1"/>
          <p:nvPr/>
        </p:nvSpPr>
        <p:spPr>
          <a:xfrm>
            <a:off x="10186736" y="3136612"/>
            <a:ext cx="577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60C6FAA-53FE-795E-C984-2384464F72E4}"/>
              </a:ext>
            </a:extLst>
          </p:cNvPr>
          <p:cNvSpPr/>
          <p:nvPr/>
        </p:nvSpPr>
        <p:spPr>
          <a:xfrm>
            <a:off x="2239628" y="2614863"/>
            <a:ext cx="577516" cy="58477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0A9EE71-009B-2AEC-EB01-163E5D9C6945}"/>
              </a:ext>
            </a:extLst>
          </p:cNvPr>
          <p:cNvSpPr/>
          <p:nvPr/>
        </p:nvSpPr>
        <p:spPr>
          <a:xfrm>
            <a:off x="2239628" y="3504438"/>
            <a:ext cx="577516" cy="58477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2AE5D53-91CB-6801-9C71-3A67F618DF40}"/>
              </a:ext>
            </a:extLst>
          </p:cNvPr>
          <p:cNvSpPr/>
          <p:nvPr/>
        </p:nvSpPr>
        <p:spPr>
          <a:xfrm>
            <a:off x="9561093" y="3136611"/>
            <a:ext cx="577516" cy="58477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84DE2F8-D40D-7F04-5567-9FE26FE0CC27}"/>
              </a:ext>
            </a:extLst>
          </p:cNvPr>
          <p:cNvSpPr/>
          <p:nvPr/>
        </p:nvSpPr>
        <p:spPr>
          <a:xfrm>
            <a:off x="2239627" y="2614862"/>
            <a:ext cx="577516" cy="58477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8E2D04B-9E97-A721-18A8-638E74FD811F}"/>
              </a:ext>
            </a:extLst>
          </p:cNvPr>
          <p:cNvSpPr/>
          <p:nvPr/>
        </p:nvSpPr>
        <p:spPr>
          <a:xfrm>
            <a:off x="2246960" y="3511407"/>
            <a:ext cx="577516" cy="58477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F4F78EC-AAF4-1A3B-C104-6748D877B27F}"/>
              </a:ext>
            </a:extLst>
          </p:cNvPr>
          <p:cNvSpPr/>
          <p:nvPr/>
        </p:nvSpPr>
        <p:spPr>
          <a:xfrm>
            <a:off x="9585156" y="3136611"/>
            <a:ext cx="577516" cy="58477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CA96DDB-DF2F-A10D-98B4-A4FEDA73F714}"/>
              </a:ext>
            </a:extLst>
          </p:cNvPr>
          <p:cNvSpPr/>
          <p:nvPr/>
        </p:nvSpPr>
        <p:spPr>
          <a:xfrm>
            <a:off x="2246960" y="2607893"/>
            <a:ext cx="577516" cy="58477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370AC18-2DD0-C3A5-8666-1370639ABEDC}"/>
              </a:ext>
            </a:extLst>
          </p:cNvPr>
          <p:cNvSpPr/>
          <p:nvPr/>
        </p:nvSpPr>
        <p:spPr>
          <a:xfrm>
            <a:off x="2239627" y="3511407"/>
            <a:ext cx="577516" cy="58477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98E632B-9FB5-4920-1C0E-61372B5FC056}"/>
              </a:ext>
            </a:extLst>
          </p:cNvPr>
          <p:cNvSpPr/>
          <p:nvPr/>
        </p:nvSpPr>
        <p:spPr>
          <a:xfrm>
            <a:off x="9553070" y="3136611"/>
            <a:ext cx="577516" cy="584775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6911645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25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25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25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5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5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5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75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75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75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565639-3C72-CA5F-DDEB-6A8D40F97522}"/>
              </a:ext>
            </a:extLst>
          </p:cNvPr>
          <p:cNvSpPr txBox="1"/>
          <p:nvPr/>
        </p:nvSpPr>
        <p:spPr>
          <a:xfrm>
            <a:off x="3048000" y="66556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Bahnschrift Condensed" panose="020B0502040204020203" pitchFamily="34" charset="0"/>
                <a:cs typeface="Times New Roman" panose="02020603050405020304" pitchFamily="18" charset="0"/>
              </a:rPr>
              <a:t>TRUTH TABLE OF AND GATE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D9B5C83-1F28-BDD9-7C7A-BEF9CA04DB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551626"/>
              </p:ext>
            </p:extLst>
          </p:nvPr>
        </p:nvGraphicFramePr>
        <p:xfrm>
          <a:off x="2005263" y="1809683"/>
          <a:ext cx="8197515" cy="3800787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714681">
                  <a:extLst>
                    <a:ext uri="{9D8B030D-6E8A-4147-A177-3AD203B41FA5}">
                      <a16:colId xmlns:a16="http://schemas.microsoft.com/office/drawing/2014/main" val="415033179"/>
                    </a:ext>
                  </a:extLst>
                </a:gridCol>
                <a:gridCol w="2741417">
                  <a:extLst>
                    <a:ext uri="{9D8B030D-6E8A-4147-A177-3AD203B41FA5}">
                      <a16:colId xmlns:a16="http://schemas.microsoft.com/office/drawing/2014/main" val="4033085462"/>
                    </a:ext>
                  </a:extLst>
                </a:gridCol>
                <a:gridCol w="2741417">
                  <a:extLst>
                    <a:ext uri="{9D8B030D-6E8A-4147-A177-3AD203B41FA5}">
                      <a16:colId xmlns:a16="http://schemas.microsoft.com/office/drawing/2014/main" val="1800069687"/>
                    </a:ext>
                  </a:extLst>
                </a:gridCol>
              </a:tblGrid>
              <a:tr h="736782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A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 B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Y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6838695"/>
                  </a:ext>
                </a:extLst>
              </a:tr>
              <a:tr h="74701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04966"/>
                  </a:ext>
                </a:extLst>
              </a:tr>
              <a:tr h="74701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569995"/>
                  </a:ext>
                </a:extLst>
              </a:tr>
              <a:tr h="74701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892742"/>
                  </a:ext>
                </a:extLst>
              </a:tr>
              <a:tr h="74701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084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335670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6A5211-28CC-7C54-445A-C7268776ADAB}"/>
              </a:ext>
            </a:extLst>
          </p:cNvPr>
          <p:cNvSpPr txBox="1"/>
          <p:nvPr/>
        </p:nvSpPr>
        <p:spPr>
          <a:xfrm>
            <a:off x="3048000" y="63348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Berlin Sans FB Demi" panose="020E0802020502020306" pitchFamily="34" charset="0"/>
              </a:rPr>
              <a:t>WORKING OF AND GATE </a:t>
            </a:r>
            <a:endParaRPr lang="en-US" sz="3200" dirty="0"/>
          </a:p>
        </p:txBody>
      </p:sp>
      <p:pic>
        <p:nvPicPr>
          <p:cNvPr id="9220" name="Picture 4" descr="Draw the logic symbol of AND gate.">
            <a:extLst>
              <a:ext uri="{FF2B5EF4-FFF2-40B4-BE49-F238E27FC236}">
                <a16:creationId xmlns:a16="http://schemas.microsoft.com/office/drawing/2014/main" id="{94A97335-D015-6720-4BD5-44E5A870B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5460" y1="18464" x2="35460" y2="19927"/>
                        <a14:foregroundMark x1="35460" y1="19927" x2="35460" y2="19927"/>
                        <a14:foregroundMark x1="35460" y1="19927" x2="35460" y2="19927"/>
                        <a14:foregroundMark x1="35460" y1="19927" x2="35460" y2="19927"/>
                        <a14:foregroundMark x1="35460" y1="19927" x2="35460" y2="19927"/>
                        <a14:foregroundMark x1="30206" y1="35466" x2="30206" y2="35466"/>
                        <a14:foregroundMark x1="30957" y1="63071" x2="30957" y2="63071"/>
                        <a14:foregroundMark x1="33583" y1="64899" x2="33583" y2="64899"/>
                        <a14:foregroundMark x1="33583" y1="64899" x2="33583" y2="64899"/>
                        <a14:foregroundMark x1="85460" y1="47349" x2="85460" y2="47349"/>
                        <a14:foregroundMark x1="71201" y1="47349" x2="71201" y2="47349"/>
                        <a14:foregroundMark x1="61538" y1="22486" x2="61538" y2="22486"/>
                        <a14:foregroundMark x1="28799" y1="34369" x2="28799" y2="34369"/>
                        <a14:foregroundMark x1="21764" y1="63803" x2="21764" y2="63803"/>
                        <a14:foregroundMark x1="34146" y1="53565" x2="34146" y2="5356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141" y="1493699"/>
            <a:ext cx="8369718" cy="4294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318A8A00-F194-B44A-5EF4-3A1735C0A3FC}"/>
              </a:ext>
            </a:extLst>
          </p:cNvPr>
          <p:cNvSpPr/>
          <p:nvPr/>
        </p:nvSpPr>
        <p:spPr>
          <a:xfrm>
            <a:off x="2550694" y="2727158"/>
            <a:ext cx="497306" cy="5133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686BDB1-CF22-D68D-B3BD-927B20E1FA30}"/>
              </a:ext>
            </a:extLst>
          </p:cNvPr>
          <p:cNvSpPr/>
          <p:nvPr/>
        </p:nvSpPr>
        <p:spPr>
          <a:xfrm>
            <a:off x="2550694" y="3960617"/>
            <a:ext cx="497306" cy="5133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85B9DE2-28A7-4280-AB9A-B923FBB5C7E4}"/>
              </a:ext>
            </a:extLst>
          </p:cNvPr>
          <p:cNvSpPr/>
          <p:nvPr/>
        </p:nvSpPr>
        <p:spPr>
          <a:xfrm>
            <a:off x="9520989" y="3240505"/>
            <a:ext cx="497306" cy="5133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5D540E-E2C2-EBFB-F0DF-FA468504722C}"/>
              </a:ext>
            </a:extLst>
          </p:cNvPr>
          <p:cNvSpPr txBox="1"/>
          <p:nvPr/>
        </p:nvSpPr>
        <p:spPr>
          <a:xfrm>
            <a:off x="1973178" y="2717285"/>
            <a:ext cx="577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5134B8-1868-FC59-6507-55FFF4997E77}"/>
              </a:ext>
            </a:extLst>
          </p:cNvPr>
          <p:cNvSpPr txBox="1"/>
          <p:nvPr/>
        </p:nvSpPr>
        <p:spPr>
          <a:xfrm>
            <a:off x="1942160" y="3960617"/>
            <a:ext cx="577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FB468D-AA7F-5B8F-F673-BB59E83EBB27}"/>
              </a:ext>
            </a:extLst>
          </p:cNvPr>
          <p:cNvSpPr txBox="1"/>
          <p:nvPr/>
        </p:nvSpPr>
        <p:spPr>
          <a:xfrm>
            <a:off x="10160542" y="3167390"/>
            <a:ext cx="577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E675888-339E-D374-AD27-390DBBD182B5}"/>
              </a:ext>
            </a:extLst>
          </p:cNvPr>
          <p:cNvSpPr/>
          <p:nvPr/>
        </p:nvSpPr>
        <p:spPr>
          <a:xfrm>
            <a:off x="2550694" y="2717285"/>
            <a:ext cx="497306" cy="5133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994D306-039F-D3CE-D57D-C43A53C3A3BD}"/>
              </a:ext>
            </a:extLst>
          </p:cNvPr>
          <p:cNvSpPr/>
          <p:nvPr/>
        </p:nvSpPr>
        <p:spPr>
          <a:xfrm>
            <a:off x="2550694" y="3950744"/>
            <a:ext cx="497306" cy="533093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0E2C808-8257-D6C7-CF1A-167956559A51}"/>
              </a:ext>
            </a:extLst>
          </p:cNvPr>
          <p:cNvSpPr/>
          <p:nvPr/>
        </p:nvSpPr>
        <p:spPr>
          <a:xfrm>
            <a:off x="9520989" y="3230632"/>
            <a:ext cx="497306" cy="5133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85DE68-4199-0350-750E-6AA44A05EA85}"/>
              </a:ext>
            </a:extLst>
          </p:cNvPr>
          <p:cNvSpPr/>
          <p:nvPr/>
        </p:nvSpPr>
        <p:spPr>
          <a:xfrm>
            <a:off x="2558714" y="2727157"/>
            <a:ext cx="497306" cy="51334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38D2110-2392-7908-898D-A13D5EFCB95D}"/>
              </a:ext>
            </a:extLst>
          </p:cNvPr>
          <p:cNvSpPr/>
          <p:nvPr/>
        </p:nvSpPr>
        <p:spPr>
          <a:xfrm>
            <a:off x="2558714" y="3950743"/>
            <a:ext cx="497306" cy="53309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3148F4F-43ED-5B0D-1AE1-24C01419D1E9}"/>
              </a:ext>
            </a:extLst>
          </p:cNvPr>
          <p:cNvSpPr/>
          <p:nvPr/>
        </p:nvSpPr>
        <p:spPr>
          <a:xfrm>
            <a:off x="9529009" y="3240504"/>
            <a:ext cx="497306" cy="5133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617A0FF-63ED-4A6B-634A-B87F4DD93F68}"/>
              </a:ext>
            </a:extLst>
          </p:cNvPr>
          <p:cNvSpPr/>
          <p:nvPr/>
        </p:nvSpPr>
        <p:spPr>
          <a:xfrm>
            <a:off x="2550694" y="2701321"/>
            <a:ext cx="497306" cy="51334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7A0CD99-6DE5-D1E1-9AD8-D827AE198CC7}"/>
              </a:ext>
            </a:extLst>
          </p:cNvPr>
          <p:cNvSpPr/>
          <p:nvPr/>
        </p:nvSpPr>
        <p:spPr>
          <a:xfrm>
            <a:off x="2566734" y="3940870"/>
            <a:ext cx="481266" cy="54296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0D3652C-A963-20C1-FEE3-54626AEEBDDE}"/>
              </a:ext>
            </a:extLst>
          </p:cNvPr>
          <p:cNvSpPr/>
          <p:nvPr/>
        </p:nvSpPr>
        <p:spPr>
          <a:xfrm>
            <a:off x="9537029" y="3214668"/>
            <a:ext cx="481266" cy="53918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8714216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25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25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25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5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5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5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75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75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75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9F31EF-428D-E94F-F908-5E7B386A5E07}"/>
              </a:ext>
            </a:extLst>
          </p:cNvPr>
          <p:cNvSpPr txBox="1"/>
          <p:nvPr/>
        </p:nvSpPr>
        <p:spPr>
          <a:xfrm>
            <a:off x="3048000" y="64952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Berlin Sans FB Demi" panose="020E0802020502020306" pitchFamily="34" charset="0"/>
                <a:cs typeface="Times New Roman" panose="02020603050405020304" pitchFamily="18" charset="0"/>
              </a:rPr>
              <a:t>TRUTH TABLE OF XOR GATE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C26B919-1A01-C01F-F3D1-76B201B84B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750947"/>
              </p:ext>
            </p:extLst>
          </p:nvPr>
        </p:nvGraphicFramePr>
        <p:xfrm>
          <a:off x="2005263" y="1809683"/>
          <a:ext cx="8197515" cy="3800787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714681">
                  <a:extLst>
                    <a:ext uri="{9D8B030D-6E8A-4147-A177-3AD203B41FA5}">
                      <a16:colId xmlns:a16="http://schemas.microsoft.com/office/drawing/2014/main" val="415033179"/>
                    </a:ext>
                  </a:extLst>
                </a:gridCol>
                <a:gridCol w="2741417">
                  <a:extLst>
                    <a:ext uri="{9D8B030D-6E8A-4147-A177-3AD203B41FA5}">
                      <a16:colId xmlns:a16="http://schemas.microsoft.com/office/drawing/2014/main" val="4033085462"/>
                    </a:ext>
                  </a:extLst>
                </a:gridCol>
                <a:gridCol w="2741417">
                  <a:extLst>
                    <a:ext uri="{9D8B030D-6E8A-4147-A177-3AD203B41FA5}">
                      <a16:colId xmlns:a16="http://schemas.microsoft.com/office/drawing/2014/main" val="1800069687"/>
                    </a:ext>
                  </a:extLst>
                </a:gridCol>
              </a:tblGrid>
              <a:tr h="736782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A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 B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Y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6838695"/>
                  </a:ext>
                </a:extLst>
              </a:tr>
              <a:tr h="74701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04966"/>
                  </a:ext>
                </a:extLst>
              </a:tr>
              <a:tr h="74701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569995"/>
                  </a:ext>
                </a:extLst>
              </a:tr>
              <a:tr h="74701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892742"/>
                  </a:ext>
                </a:extLst>
              </a:tr>
              <a:tr h="74701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084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857839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D2824F-E761-5E32-0E17-A0BDB0FE8F38}"/>
              </a:ext>
            </a:extLst>
          </p:cNvPr>
          <p:cNvSpPr txBox="1"/>
          <p:nvPr/>
        </p:nvSpPr>
        <p:spPr>
          <a:xfrm>
            <a:off x="3048000" y="7297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Bahnschrift Condensed" panose="020B0502040204020203" pitchFamily="34" charset="0"/>
              </a:rPr>
              <a:t>WORKING OF XOR GATE </a:t>
            </a:r>
          </a:p>
        </p:txBody>
      </p:sp>
      <p:pic>
        <p:nvPicPr>
          <p:cNvPr id="10242" name="Picture 2" descr="XOR gate Exclusive or AND gate Logic gate, others transparent background PNG  clipart | HiClipart">
            <a:extLst>
              <a:ext uri="{FF2B5EF4-FFF2-40B4-BE49-F238E27FC236}">
                <a16:creationId xmlns:a16="http://schemas.microsoft.com/office/drawing/2014/main" id="{8451AD23-5C05-0B6C-4B07-C26A83831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434" b="88679" l="6604" r="92453">
                        <a14:foregroundMark x1="7547" y1="32075" x2="7547" y2="32075"/>
                        <a14:foregroundMark x1="7547" y1="32075" x2="7547" y2="32075"/>
                        <a14:foregroundMark x1="6918" y1="71698" x2="6918" y2="71698"/>
                        <a14:foregroundMark x1="92453" y1="49686" x2="92453" y2="49686"/>
                        <a14:foregroundMark x1="40566" y1="87421" x2="40566" y2="8742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0978" y="2238625"/>
            <a:ext cx="5533022" cy="2766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FF760DB9-614B-CF3B-6AD7-81ECB08D82EE}"/>
              </a:ext>
            </a:extLst>
          </p:cNvPr>
          <p:cNvSpPr/>
          <p:nvPr/>
        </p:nvSpPr>
        <p:spPr>
          <a:xfrm>
            <a:off x="3193883" y="2836584"/>
            <a:ext cx="577516" cy="58477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CD09741-B47E-16F1-832B-F15FE1749999}"/>
              </a:ext>
            </a:extLst>
          </p:cNvPr>
          <p:cNvSpPr/>
          <p:nvPr/>
        </p:nvSpPr>
        <p:spPr>
          <a:xfrm>
            <a:off x="3193883" y="3920860"/>
            <a:ext cx="577516" cy="58477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F4166CA-7DB1-A651-73FB-BA3FC148FC19}"/>
              </a:ext>
            </a:extLst>
          </p:cNvPr>
          <p:cNvSpPr/>
          <p:nvPr/>
        </p:nvSpPr>
        <p:spPr>
          <a:xfrm>
            <a:off x="9049252" y="3329492"/>
            <a:ext cx="577516" cy="58477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13C48A-7D25-E8E1-7398-D79EB9310495}"/>
              </a:ext>
            </a:extLst>
          </p:cNvPr>
          <p:cNvSpPr txBox="1"/>
          <p:nvPr/>
        </p:nvSpPr>
        <p:spPr>
          <a:xfrm>
            <a:off x="2616367" y="2841648"/>
            <a:ext cx="577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73E005-2C8B-BFCD-8E94-43ADB8B5976D}"/>
              </a:ext>
            </a:extLst>
          </p:cNvPr>
          <p:cNvSpPr txBox="1"/>
          <p:nvPr/>
        </p:nvSpPr>
        <p:spPr>
          <a:xfrm>
            <a:off x="2550694" y="3982415"/>
            <a:ext cx="577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A350D2-AD2E-0FEE-E207-1F621F3A2117}"/>
              </a:ext>
            </a:extLst>
          </p:cNvPr>
          <p:cNvSpPr txBox="1"/>
          <p:nvPr/>
        </p:nvSpPr>
        <p:spPr>
          <a:xfrm>
            <a:off x="9626768" y="3364868"/>
            <a:ext cx="577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BDC1748-5D16-00D5-048C-11676169D3BF}"/>
              </a:ext>
            </a:extLst>
          </p:cNvPr>
          <p:cNvSpPr/>
          <p:nvPr/>
        </p:nvSpPr>
        <p:spPr>
          <a:xfrm>
            <a:off x="3193883" y="2810870"/>
            <a:ext cx="577516" cy="58477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FCCFD7-CF8F-11D1-DC97-ABC4E8985559}"/>
              </a:ext>
            </a:extLst>
          </p:cNvPr>
          <p:cNvSpPr/>
          <p:nvPr/>
        </p:nvSpPr>
        <p:spPr>
          <a:xfrm>
            <a:off x="3193883" y="3914267"/>
            <a:ext cx="577516" cy="58477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55EAFE4-5CEE-3DF5-5C94-66BCBD548D0C}"/>
              </a:ext>
            </a:extLst>
          </p:cNvPr>
          <p:cNvSpPr/>
          <p:nvPr/>
        </p:nvSpPr>
        <p:spPr>
          <a:xfrm>
            <a:off x="9049252" y="3336085"/>
            <a:ext cx="577516" cy="58477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8C5B1D4-3273-4591-6196-D368F9E0E4E8}"/>
              </a:ext>
            </a:extLst>
          </p:cNvPr>
          <p:cNvSpPr/>
          <p:nvPr/>
        </p:nvSpPr>
        <p:spPr>
          <a:xfrm>
            <a:off x="3193883" y="2804277"/>
            <a:ext cx="577516" cy="62472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B7A19DD-577D-72E1-4F97-69433C9FE90E}"/>
              </a:ext>
            </a:extLst>
          </p:cNvPr>
          <p:cNvSpPr/>
          <p:nvPr/>
        </p:nvSpPr>
        <p:spPr>
          <a:xfrm>
            <a:off x="3193883" y="3920860"/>
            <a:ext cx="577516" cy="58477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F1E3A97-6AFE-1729-A698-A3DD0A6FDA8E}"/>
              </a:ext>
            </a:extLst>
          </p:cNvPr>
          <p:cNvSpPr/>
          <p:nvPr/>
        </p:nvSpPr>
        <p:spPr>
          <a:xfrm>
            <a:off x="9049252" y="3329491"/>
            <a:ext cx="577516" cy="58477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7FE543B-249A-FA55-DCD2-B1E8C230F031}"/>
              </a:ext>
            </a:extLst>
          </p:cNvPr>
          <p:cNvSpPr/>
          <p:nvPr/>
        </p:nvSpPr>
        <p:spPr>
          <a:xfrm>
            <a:off x="3195387" y="2810870"/>
            <a:ext cx="577516" cy="62472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CAE4590-5CB8-87CC-3873-DACE22305ECF}"/>
              </a:ext>
            </a:extLst>
          </p:cNvPr>
          <p:cNvSpPr/>
          <p:nvPr/>
        </p:nvSpPr>
        <p:spPr>
          <a:xfrm>
            <a:off x="3193883" y="3914266"/>
            <a:ext cx="577516" cy="58477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265E1AC-377F-7E04-F30C-B28BA9F63F9D}"/>
              </a:ext>
            </a:extLst>
          </p:cNvPr>
          <p:cNvSpPr/>
          <p:nvPr/>
        </p:nvSpPr>
        <p:spPr>
          <a:xfrm>
            <a:off x="9049252" y="3342678"/>
            <a:ext cx="577516" cy="58477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902061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140</Words>
  <Application>Microsoft Office PowerPoint</Application>
  <PresentationFormat>Widescreen</PresentationFormat>
  <Paragraphs>97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Bahnschrift Condensed</vt:lpstr>
      <vt:lpstr>Berlin Sans FB Demi</vt:lpstr>
      <vt:lpstr>Calibri</vt:lpstr>
      <vt:lpstr>Calibri Light</vt:lpstr>
      <vt:lpstr>Times New Roman</vt:lpstr>
      <vt:lpstr>Office Theme</vt:lpstr>
      <vt:lpstr>         Create OR, AN and XOR gate using animation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Create OR, AN and XOR gate using animation </dc:title>
  <dc:creator>Microsoft account</dc:creator>
  <cp:lastModifiedBy>Tayyaba Sohail</cp:lastModifiedBy>
  <cp:revision>3</cp:revision>
  <dcterms:created xsi:type="dcterms:W3CDTF">2025-10-30T04:11:23Z</dcterms:created>
  <dcterms:modified xsi:type="dcterms:W3CDTF">2025-11-06T05:29:00Z</dcterms:modified>
</cp:coreProperties>
</file>